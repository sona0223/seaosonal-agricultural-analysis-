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85" d="100"/>
          <a:sy n="85" d="100"/>
        </p:scale>
        <p:origin x="494" y="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193238" y="4864538"/>
            <a:ext cx="3200400" cy="1427582"/>
          </a:xfrm>
        </p:spPr>
        <p:txBody>
          <a:bodyPr vert="horz" lIns="91440" tIns="45720" rIns="91440" bIns="45720" rtlCol="0" anchor="t">
            <a:noAutofit/>
          </a:bodyPr>
          <a:lstStyle/>
          <a:p>
            <a:pPr algn="r"/>
            <a:r>
              <a:rPr lang="en-IN" sz="1400" dirty="0">
                <a:solidFill>
                  <a:schemeClr val="tx1"/>
                </a:solidFill>
                <a:latin typeface="+mn-lt"/>
              </a:rPr>
              <a:t>BY:</a:t>
            </a:r>
            <a:br>
              <a:rPr lang="en-IN" sz="1400" dirty="0">
                <a:solidFill>
                  <a:schemeClr val="tx1"/>
                </a:solidFill>
                <a:latin typeface="+mn-lt"/>
              </a:rPr>
            </a:br>
            <a:r>
              <a:rPr lang="en-IN" sz="1400" b="0" dirty="0">
                <a:solidFill>
                  <a:schemeClr val="tx1"/>
                </a:solidFill>
              </a:rPr>
              <a:t>SONAKSHI JAIN</a:t>
            </a:r>
          </a:p>
          <a:p>
            <a:pPr algn="r"/>
            <a:r>
              <a:rPr lang="en-IN" sz="1400" dirty="0">
                <a:solidFill>
                  <a:schemeClr val="tx1"/>
                </a:solidFill>
                <a:latin typeface="+mn-lt"/>
              </a:rPr>
              <a:t>COLLEGE:</a:t>
            </a:r>
            <a:br>
              <a:rPr lang="en-IN" sz="1400" dirty="0">
                <a:solidFill>
                  <a:schemeClr val="tx1"/>
                </a:solidFill>
                <a:latin typeface="+mn-lt"/>
              </a:rPr>
            </a:br>
            <a:r>
              <a:rPr lang="en-IN" sz="1400" b="0" dirty="0">
                <a:solidFill>
                  <a:schemeClr val="tx1"/>
                </a:solidFill>
              </a:rPr>
              <a:t>ABES ENGINEERING COLLEGE</a:t>
            </a:r>
          </a:p>
          <a:p>
            <a:pPr algn="r"/>
            <a:r>
              <a:rPr lang="en-IN" sz="1400" dirty="0">
                <a:solidFill>
                  <a:schemeClr val="tx1"/>
                </a:solidFill>
                <a:latin typeface="+mn-lt"/>
              </a:rPr>
              <a:t>AICTE STU ID: </a:t>
            </a:r>
            <a:r>
              <a:rPr lang="en-IN" sz="1400" b="0" dirty="0">
                <a:solidFill>
                  <a:schemeClr val="tx1"/>
                </a:solidFill>
              </a:rPr>
              <a:t>STU6831ba2f779071748089391</a:t>
            </a: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913767" y="2577026"/>
            <a:ext cx="8558942" cy="743448"/>
          </a:xfrm>
        </p:spPr>
        <p:txBody>
          <a:bodyPr>
            <a:noAutofit/>
          </a:bodyPr>
          <a:lstStyle/>
          <a:p>
            <a:r>
              <a:rPr lang="en-GB" sz="3200" b="1" dirty="0">
                <a:latin typeface="Times New Roman" panose="02020603050405020304" pitchFamily="18" charset="0"/>
                <a:cs typeface="Times New Roman" panose="02020603050405020304" pitchFamily="18" charset="0"/>
              </a:rPr>
              <a:t>Project Title: </a:t>
            </a:r>
            <a:r>
              <a:rPr lang="en-IN" sz="3200" dirty="0" err="1">
                <a:latin typeface="Times New Roman" panose="02020603050405020304" pitchFamily="18" charset="0"/>
                <a:cs typeface="Times New Roman" panose="02020603050405020304" pitchFamily="18" charset="0"/>
              </a:rPr>
              <a:t>Analyzing</a:t>
            </a:r>
            <a:r>
              <a:rPr lang="en-IN" sz="3200" dirty="0">
                <a:latin typeface="Times New Roman" panose="02020603050405020304" pitchFamily="18" charset="0"/>
                <a:cs typeface="Times New Roman" panose="02020603050405020304" pitchFamily="18" charset="0"/>
              </a:rPr>
              <a:t> Seasonal Patterns, Agricultural Productivity, Resource Usage and Economic Performance</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60080" y="1278292"/>
            <a:ext cx="7132527" cy="4046629"/>
          </a:xfrm>
        </p:spPr>
        <p:txBody>
          <a:bodyPr vert="horz" lIns="91440" tIns="45720" rIns="91440" bIns="45720" rtlCol="0" anchor="t">
            <a:noAutofit/>
          </a:bodyPr>
          <a:lstStyle/>
          <a:p>
            <a:pPr>
              <a:lnSpc>
                <a:spcPct val="100000"/>
              </a:lnSpc>
            </a:pP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Agricultural performance is influenced by seasonal variations in environmental conditions, farming practices, resource availability and market conditions. However, raw agricultural data does not clearly explain how crop performance changes across different seasons. This project aims to </a:t>
            </a:r>
            <a:r>
              <a:rPr lang="en-IN" sz="2400" dirty="0" err="1">
                <a:solidFill>
                  <a:schemeClr val="tx1">
                    <a:lumMod val="95000"/>
                    <a:lumOff val="5000"/>
                  </a:schemeClr>
                </a:solidFill>
                <a:latin typeface="Times New Roman" panose="02020603050405020304" pitchFamily="18" charset="0"/>
                <a:cs typeface="Times New Roman" panose="02020603050405020304" pitchFamily="18" charset="0"/>
              </a:rPr>
              <a:t>analyze</a:t>
            </a: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 agricultural data across seasons to identify meaningful patterns, trends, relationships and variations in crop yield, production, resource usage and economic performance. The analysis will help in understanding seasonal differences and support better data-driven agricultural planning.</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260080" y="193040"/>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68513" y="260191"/>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FA45C664-A52E-57CB-8F23-74F8040B8E3B}"/>
              </a:ext>
            </a:extLst>
          </p:cNvPr>
          <p:cNvSpPr txBox="1"/>
          <p:nvPr/>
        </p:nvSpPr>
        <p:spPr>
          <a:xfrm>
            <a:off x="467359" y="1211668"/>
            <a:ext cx="6102220" cy="5324535"/>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Seasonal Agriculture Performance Analysis</a:t>
            </a:r>
            <a:r>
              <a:rPr lang="en-IN" sz="2000" dirty="0">
                <a:latin typeface="Times New Roman" panose="02020603050405020304" pitchFamily="18" charset="0"/>
                <a:cs typeface="Times New Roman" panose="02020603050405020304" pitchFamily="18" charset="0"/>
              </a:rPr>
              <a:t> is a data analytics project that examines agricultural activities across different seasons and identifies factors that influence agricultural performance. The project involves collecting and understanding the dataset, cleaning and preparing the data, performing exploratory data analysis, comparing agricultural performance across seasons, and identifying relationships between environmental conditions, resource usage and economic outcomes.</a:t>
            </a:r>
          </a:p>
          <a:p>
            <a:pPr>
              <a:buNone/>
            </a:pPr>
            <a:r>
              <a:rPr lang="en-IN" sz="2000" dirty="0">
                <a:latin typeface="Times New Roman" panose="02020603050405020304" pitchFamily="18" charset="0"/>
                <a:cs typeface="Times New Roman" panose="02020603050405020304" pitchFamily="18" charset="0"/>
              </a:rPr>
              <a:t>The analysis focuses on parameters such as crop yield, production, rainfall, temperature, soil conditions, irrigation, fertilizer usage, water consumption, revenue, cost and profit. Various statistical techniques and visualizations are used to identify seasonal patterns and meaningful differences. The final insights are used to develop data-driven recommendations for better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144147" y="19542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51C4CB73-1A51-2C4E-0C4C-FD135AB03AA0}"/>
              </a:ext>
            </a:extLst>
          </p:cNvPr>
          <p:cNvSpPr txBox="1"/>
          <p:nvPr/>
        </p:nvSpPr>
        <p:spPr>
          <a:xfrm>
            <a:off x="450772" y="671691"/>
            <a:ext cx="10969068" cy="4062651"/>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Farmers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Select suitable crops for different seasons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 irrigation and resource usage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Understand productivity patterns </a:t>
            </a:r>
          </a:p>
          <a:p>
            <a:pPr>
              <a:buNone/>
            </a:pPr>
            <a:r>
              <a:rPr lang="en-IN" sz="2000" b="1" dirty="0">
                <a:latin typeface="Times New Roman" panose="02020603050405020304" pitchFamily="18" charset="0"/>
                <a:cs typeface="Times New Roman" panose="02020603050405020304" pitchFamily="18" charset="0"/>
              </a:rPr>
              <a:t>Government &amp; Agricultural Policymakers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 agricultural planning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Identify seasonal challenges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 resource allocation </a:t>
            </a:r>
          </a:p>
          <a:p>
            <a:pPr>
              <a:buNone/>
            </a:pPr>
            <a:r>
              <a:rPr lang="en-IN" sz="2000" b="1" dirty="0">
                <a:latin typeface="Times New Roman" panose="02020603050405020304" pitchFamily="18" charset="0"/>
                <a:cs typeface="Times New Roman" panose="02020603050405020304" pitchFamily="18" charset="0"/>
              </a:rPr>
              <a:t>Agricultural Planners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Compare seasonal performance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Plan crop production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Identify areas requiring improvement </a:t>
            </a:r>
          </a:p>
          <a:p>
            <a:pPr>
              <a:buNone/>
            </a:pP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C277802-3EC4-9D10-D1D2-109052016AEA}"/>
              </a:ext>
            </a:extLst>
          </p:cNvPr>
          <p:cNvSpPr txBox="1"/>
          <p:nvPr/>
        </p:nvSpPr>
        <p:spPr>
          <a:xfrm>
            <a:off x="5167182" y="2708434"/>
            <a:ext cx="6106886" cy="3477875"/>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Agricultural Researchers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Study relationships between environmental conditions and crop performance </a:t>
            </a:r>
          </a:p>
          <a:p>
            <a:pPr marL="342900" lvl="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seasonal agricultural trends </a:t>
            </a:r>
          </a:p>
          <a:p>
            <a:pPr>
              <a:buNone/>
            </a:pPr>
            <a:r>
              <a:rPr lang="en-IN" sz="2000" b="1" dirty="0">
                <a:latin typeface="Times New Roman" panose="02020603050405020304" pitchFamily="18" charset="0"/>
                <a:cs typeface="Times New Roman" panose="02020603050405020304" pitchFamily="18" charset="0"/>
              </a:rPr>
              <a:t>Agribusinesses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Understand production and profitability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 business and crop-planning decisions </a:t>
            </a:r>
          </a:p>
          <a:p>
            <a:pPr>
              <a:buNone/>
            </a:pPr>
            <a:r>
              <a:rPr lang="en-IN" sz="2000" b="1" dirty="0">
                <a:latin typeface="Times New Roman" panose="02020603050405020304" pitchFamily="18" charset="0"/>
                <a:cs typeface="Times New Roman" panose="02020603050405020304" pitchFamily="18" charset="0"/>
              </a:rPr>
              <a:t>Data Analysts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Monitor agricultural KPIs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reports and dashboards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Identify trends and patterns </a:t>
            </a:r>
            <a:endParaRPr lang="en-IN" sz="2000"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264159" y="308647"/>
            <a:ext cx="5306291" cy="847817"/>
          </a:xfrm>
        </p:spPr>
        <p:txBody>
          <a:bodyPr>
            <a:normAutofit/>
          </a:bodyPr>
          <a:lstStyle/>
          <a:p>
            <a:r>
              <a:rPr lang="en-US" dirty="0"/>
              <a:t>Technology Used</a:t>
            </a:r>
          </a:p>
        </p:txBody>
      </p:sp>
      <p:sp>
        <p:nvSpPr>
          <p:cNvPr id="4" name="TextBox 3">
            <a:extLst>
              <a:ext uri="{FF2B5EF4-FFF2-40B4-BE49-F238E27FC236}">
                <a16:creationId xmlns:a16="http://schemas.microsoft.com/office/drawing/2014/main" id="{E790D97A-FB3C-6A00-5702-0A84C6FB3921}"/>
              </a:ext>
            </a:extLst>
          </p:cNvPr>
          <p:cNvSpPr txBox="1"/>
          <p:nvPr/>
        </p:nvSpPr>
        <p:spPr>
          <a:xfrm>
            <a:off x="264159" y="1401625"/>
            <a:ext cx="8402321" cy="2246769"/>
          </a:xfrm>
          <a:prstGeom prst="rect">
            <a:avLst/>
          </a:prstGeom>
          <a:noFill/>
        </p:spPr>
        <p:txBody>
          <a:bodyPr wrap="square">
            <a:spAutoFit/>
          </a:bodyPr>
          <a:lstStyle/>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Python</a:t>
            </a:r>
            <a:r>
              <a:rPr lang="en-IN" sz="2000" dirty="0">
                <a:latin typeface="Times New Roman" panose="02020603050405020304" pitchFamily="18" charset="0"/>
                <a:cs typeface="Times New Roman" panose="02020603050405020304" pitchFamily="18" charset="0"/>
              </a:rPr>
              <a:t> – Data analysis and processing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Pandas</a:t>
            </a:r>
            <a:r>
              <a:rPr lang="en-IN" sz="2000" dirty="0">
                <a:latin typeface="Times New Roman" panose="02020603050405020304" pitchFamily="18" charset="0"/>
                <a:cs typeface="Times New Roman" panose="02020603050405020304" pitchFamily="18" charset="0"/>
              </a:rPr>
              <a:t> – Data cleaning, manipulation and aggregation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NumPy</a:t>
            </a:r>
            <a:r>
              <a:rPr lang="en-IN" sz="2000" dirty="0">
                <a:latin typeface="Times New Roman" panose="02020603050405020304" pitchFamily="18" charset="0"/>
                <a:cs typeface="Times New Roman" panose="02020603050405020304" pitchFamily="18" charset="0"/>
              </a:rPr>
              <a:t> – Numerical calculations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Matplotlib</a:t>
            </a:r>
            <a:r>
              <a:rPr lang="en-IN" sz="2000" dirty="0">
                <a:latin typeface="Times New Roman" panose="02020603050405020304" pitchFamily="18" charset="0"/>
                <a:cs typeface="Times New Roman" panose="02020603050405020304" pitchFamily="18" charset="0"/>
              </a:rPr>
              <a:t> – Data visualization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Seaborn</a:t>
            </a:r>
            <a:r>
              <a:rPr lang="en-IN" sz="2000" dirty="0">
                <a:latin typeface="Times New Roman" panose="02020603050405020304" pitchFamily="18" charset="0"/>
                <a:cs typeface="Times New Roman" panose="02020603050405020304" pitchFamily="18" charset="0"/>
              </a:rPr>
              <a:t> – Statistical charts and correlation analysis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Scikit-learn</a:t>
            </a:r>
            <a:r>
              <a:rPr lang="en-IN" sz="2000" dirty="0">
                <a:latin typeface="Times New Roman" panose="02020603050405020304" pitchFamily="18" charset="0"/>
                <a:cs typeface="Times New Roman" panose="02020603050405020304" pitchFamily="18" charset="0"/>
              </a:rPr>
              <a:t> – Statistical/machine-learning analysis </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Jupyter Notebook / Kaggle</a:t>
            </a:r>
            <a:r>
              <a:rPr lang="en-IN" sz="2000" dirty="0">
                <a:latin typeface="Times New Roman" panose="02020603050405020304" pitchFamily="18" charset="0"/>
                <a:cs typeface="Times New Roman" panose="02020603050405020304" pitchFamily="18" charset="0"/>
              </a:rPr>
              <a:t> – Development and analysis environment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125451"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D544CC9-2173-B945-34C9-231EEF71921F}"/>
              </a:ext>
            </a:extLst>
          </p:cNvPr>
          <p:cNvPicPr>
            <a:picLocks noChangeAspect="1"/>
          </p:cNvPicPr>
          <p:nvPr/>
        </p:nvPicPr>
        <p:blipFill>
          <a:blip r:embed="rId3"/>
          <a:stretch>
            <a:fillRect/>
          </a:stretch>
        </p:blipFill>
        <p:spPr>
          <a:xfrm>
            <a:off x="0" y="1427436"/>
            <a:ext cx="9610531" cy="1852832"/>
          </a:xfrm>
          <a:prstGeom prst="rect">
            <a:avLst/>
          </a:prstGeom>
        </p:spPr>
      </p:pic>
      <p:sp>
        <p:nvSpPr>
          <p:cNvPr id="9" name="TextBox 8">
            <a:extLst>
              <a:ext uri="{FF2B5EF4-FFF2-40B4-BE49-F238E27FC236}">
                <a16:creationId xmlns:a16="http://schemas.microsoft.com/office/drawing/2014/main" id="{1A07A14C-0F45-67CB-7D95-7601ED36D897}"/>
              </a:ext>
            </a:extLst>
          </p:cNvPr>
          <p:cNvSpPr txBox="1"/>
          <p:nvPr/>
        </p:nvSpPr>
        <p:spPr>
          <a:xfrm>
            <a:off x="1831094" y="3860431"/>
            <a:ext cx="6176682" cy="2031325"/>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dataset contains </a:t>
            </a:r>
            <a:r>
              <a:rPr lang="en-IN" b="1" dirty="0">
                <a:latin typeface="Times New Roman" panose="02020603050405020304" pitchFamily="18" charset="0"/>
                <a:cs typeface="Times New Roman" panose="02020603050405020304" pitchFamily="18" charset="0"/>
              </a:rPr>
              <a:t>4,000 agricultural farm records and 28 variables</a:t>
            </a:r>
            <a:r>
              <a:rPr lang="en-IN" dirty="0">
                <a:latin typeface="Times New Roman" panose="02020603050405020304" pitchFamily="18" charset="0"/>
                <a:cs typeface="Times New Roman" panose="02020603050405020304" pitchFamily="18" charset="0"/>
              </a:rPr>
              <a:t>. Each record represents a farm and includes information about its location, crop, season, environmental conditions, soil characteristics, resource utilization, production and economic performance. The dataset is used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seasonal variations and identify factors associated with agricultural productivity and profitability.</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147448" y="853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17AB76D-36DF-9F5D-4BD9-3872B34269FE}"/>
              </a:ext>
            </a:extLst>
          </p:cNvPr>
          <p:cNvPicPr>
            <a:picLocks noChangeAspect="1"/>
          </p:cNvPicPr>
          <p:nvPr/>
        </p:nvPicPr>
        <p:blipFill>
          <a:blip r:embed="rId3"/>
          <a:stretch>
            <a:fillRect/>
          </a:stretch>
        </p:blipFill>
        <p:spPr>
          <a:xfrm>
            <a:off x="163931" y="971224"/>
            <a:ext cx="5930320" cy="2577312"/>
          </a:xfrm>
          <a:prstGeom prst="rect">
            <a:avLst/>
          </a:prstGeom>
        </p:spPr>
      </p:pic>
      <p:pic>
        <p:nvPicPr>
          <p:cNvPr id="9" name="Picture 8">
            <a:extLst>
              <a:ext uri="{FF2B5EF4-FFF2-40B4-BE49-F238E27FC236}">
                <a16:creationId xmlns:a16="http://schemas.microsoft.com/office/drawing/2014/main" id="{9922AC3E-3AF5-917D-ACEE-541AD01BFD76}"/>
              </a:ext>
            </a:extLst>
          </p:cNvPr>
          <p:cNvPicPr>
            <a:picLocks noChangeAspect="1"/>
          </p:cNvPicPr>
          <p:nvPr/>
        </p:nvPicPr>
        <p:blipFill>
          <a:blip r:embed="rId4"/>
          <a:stretch>
            <a:fillRect/>
          </a:stretch>
        </p:blipFill>
        <p:spPr>
          <a:xfrm>
            <a:off x="6251302" y="743223"/>
            <a:ext cx="4672462" cy="2685777"/>
          </a:xfrm>
          <a:prstGeom prst="rect">
            <a:avLst/>
          </a:prstGeom>
        </p:spPr>
      </p:pic>
      <p:sp>
        <p:nvSpPr>
          <p:cNvPr id="14" name="TextBox 13">
            <a:extLst>
              <a:ext uri="{FF2B5EF4-FFF2-40B4-BE49-F238E27FC236}">
                <a16:creationId xmlns:a16="http://schemas.microsoft.com/office/drawing/2014/main" id="{EB11A861-C96A-BB6E-2ECA-80E62A756B73}"/>
              </a:ext>
            </a:extLst>
          </p:cNvPr>
          <p:cNvSpPr txBox="1"/>
          <p:nvPr/>
        </p:nvSpPr>
        <p:spPr>
          <a:xfrm>
            <a:off x="147448" y="3603398"/>
            <a:ext cx="5580999" cy="1477328"/>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dataset contained missing observations mainly in rainfall, soil moisture and crop yield. Rainfall had the highest number of missing values. Appropriate data-cleaning and imputation techniques were applied to prepare the dataset for further analysis.</a:t>
            </a:r>
          </a:p>
        </p:txBody>
      </p:sp>
      <p:sp>
        <p:nvSpPr>
          <p:cNvPr id="18" name="TextBox 17">
            <a:extLst>
              <a:ext uri="{FF2B5EF4-FFF2-40B4-BE49-F238E27FC236}">
                <a16:creationId xmlns:a16="http://schemas.microsoft.com/office/drawing/2014/main" id="{21810BAF-D439-040B-444A-C05CAC6EA3D7}"/>
              </a:ext>
            </a:extLst>
          </p:cNvPr>
          <p:cNvSpPr txBox="1"/>
          <p:nvPr/>
        </p:nvSpPr>
        <p:spPr>
          <a:xfrm>
            <a:off x="5503674" y="3733147"/>
            <a:ext cx="6167718" cy="2031325"/>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rainfall-yield analysis indicates that rainfall alone does not determine crop yield. Although some higher-yield observations occur at moderate to high rainfall levels, many observations remain at relatively low yields even when rainfall is high. This suggests that other factors such as soil conditions, crop type, irrigation, fertilizer and temperature may also influence agricultural productivity.</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256697"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9B728FB-C198-B6DB-8A3D-C2FCC780BE62}"/>
              </a:ext>
            </a:extLst>
          </p:cNvPr>
          <p:cNvPicPr>
            <a:picLocks noChangeAspect="1"/>
          </p:cNvPicPr>
          <p:nvPr/>
        </p:nvPicPr>
        <p:blipFill>
          <a:blip r:embed="rId3"/>
          <a:stretch>
            <a:fillRect/>
          </a:stretch>
        </p:blipFill>
        <p:spPr>
          <a:xfrm>
            <a:off x="2608310" y="945291"/>
            <a:ext cx="7019784" cy="3691125"/>
          </a:xfrm>
          <a:prstGeom prst="rect">
            <a:avLst/>
          </a:prstGeom>
        </p:spPr>
      </p:pic>
      <p:sp>
        <p:nvSpPr>
          <p:cNvPr id="12" name="TextBox 11">
            <a:extLst>
              <a:ext uri="{FF2B5EF4-FFF2-40B4-BE49-F238E27FC236}">
                <a16:creationId xmlns:a16="http://schemas.microsoft.com/office/drawing/2014/main" id="{72938AF6-0B8E-D4D9-CB3A-1660E0512DFB}"/>
              </a:ext>
            </a:extLst>
          </p:cNvPr>
          <p:cNvSpPr txBox="1"/>
          <p:nvPr/>
        </p:nvSpPr>
        <p:spPr>
          <a:xfrm>
            <a:off x="3238340" y="4916552"/>
            <a:ext cx="5356428" cy="1748408"/>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dataset contains more agricultural records for Kharif and Rabi seasons compared with Zaid. Kharif represents the largest share of observations, whereas Zaid has considerably fewer records. Therefore, seasonal comparisons should consider the difference in sample sizes.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256697"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49731E9-3D09-4A64-6F98-4033CF2552AE}"/>
              </a:ext>
            </a:extLst>
          </p:cNvPr>
          <p:cNvPicPr>
            <a:picLocks noChangeAspect="1"/>
          </p:cNvPicPr>
          <p:nvPr/>
        </p:nvPicPr>
        <p:blipFill>
          <a:blip r:embed="rId3"/>
          <a:stretch>
            <a:fillRect/>
          </a:stretch>
        </p:blipFill>
        <p:spPr>
          <a:xfrm>
            <a:off x="287323" y="1024037"/>
            <a:ext cx="5485495" cy="2711731"/>
          </a:xfrm>
          <a:prstGeom prst="rect">
            <a:avLst/>
          </a:prstGeom>
        </p:spPr>
      </p:pic>
      <p:pic>
        <p:nvPicPr>
          <p:cNvPr id="12" name="Picture 11">
            <a:extLst>
              <a:ext uri="{FF2B5EF4-FFF2-40B4-BE49-F238E27FC236}">
                <a16:creationId xmlns:a16="http://schemas.microsoft.com/office/drawing/2014/main" id="{DBFE1C97-D598-227D-0880-AF07051A247B}"/>
              </a:ext>
            </a:extLst>
          </p:cNvPr>
          <p:cNvPicPr>
            <a:picLocks noChangeAspect="1"/>
          </p:cNvPicPr>
          <p:nvPr/>
        </p:nvPicPr>
        <p:blipFill>
          <a:blip r:embed="rId4"/>
          <a:stretch>
            <a:fillRect/>
          </a:stretch>
        </p:blipFill>
        <p:spPr>
          <a:xfrm>
            <a:off x="5326548" y="126263"/>
            <a:ext cx="5485496" cy="3879857"/>
          </a:xfrm>
          <a:prstGeom prst="rect">
            <a:avLst/>
          </a:prstGeom>
        </p:spPr>
      </p:pic>
      <p:sp>
        <p:nvSpPr>
          <p:cNvPr id="14" name="TextBox 13">
            <a:extLst>
              <a:ext uri="{FF2B5EF4-FFF2-40B4-BE49-F238E27FC236}">
                <a16:creationId xmlns:a16="http://schemas.microsoft.com/office/drawing/2014/main" id="{79ED0F4B-574F-C2AC-C488-A7306091E463}"/>
              </a:ext>
            </a:extLst>
          </p:cNvPr>
          <p:cNvSpPr txBox="1"/>
          <p:nvPr/>
        </p:nvSpPr>
        <p:spPr>
          <a:xfrm>
            <a:off x="256697" y="3938937"/>
            <a:ext cx="5485495" cy="1477328"/>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analysis shows that crop productivity varies across seasons. Kharif records the highest average yield of approximately 5.64 tonnes per hectare, followed by Rabi at 5.08 tonnes per hectare. Zaid has the lowest average yield at approximately 4.67 tonnes per hectare.</a:t>
            </a:r>
          </a:p>
        </p:txBody>
      </p:sp>
      <p:sp>
        <p:nvSpPr>
          <p:cNvPr id="16" name="TextBox 15">
            <a:extLst>
              <a:ext uri="{FF2B5EF4-FFF2-40B4-BE49-F238E27FC236}">
                <a16:creationId xmlns:a16="http://schemas.microsoft.com/office/drawing/2014/main" id="{0B9A49F4-8FF2-5D35-BBCD-C9B49C2A93E5}"/>
              </a:ext>
            </a:extLst>
          </p:cNvPr>
          <p:cNvSpPr txBox="1"/>
          <p:nvPr/>
        </p:nvSpPr>
        <p:spPr>
          <a:xfrm>
            <a:off x="6017474" y="4001066"/>
            <a:ext cx="6113928" cy="2031325"/>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correlation analysis was used to understand relationships among agricultural, environmental and economic variables. Yield shows a strong positive relationship with production and water efficiency. Economic variables such as revenue and profit are also positively related. However, correlation indicates association and does not establish a direct cause-and-effect relationship.</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125451" y="12182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72529CA2-649A-5279-FD99-609A40DCC483}"/>
              </a:ext>
            </a:extLst>
          </p:cNvPr>
          <p:cNvPicPr>
            <a:picLocks noChangeAspect="1"/>
          </p:cNvPicPr>
          <p:nvPr/>
        </p:nvPicPr>
        <p:blipFill>
          <a:blip r:embed="rId3"/>
          <a:stretch>
            <a:fillRect/>
          </a:stretch>
        </p:blipFill>
        <p:spPr>
          <a:xfrm>
            <a:off x="222370" y="953924"/>
            <a:ext cx="6292259" cy="2966033"/>
          </a:xfrm>
          <a:prstGeom prst="rect">
            <a:avLst/>
          </a:prstGeom>
        </p:spPr>
      </p:pic>
      <p:pic>
        <p:nvPicPr>
          <p:cNvPr id="14" name="Picture 13">
            <a:extLst>
              <a:ext uri="{FF2B5EF4-FFF2-40B4-BE49-F238E27FC236}">
                <a16:creationId xmlns:a16="http://schemas.microsoft.com/office/drawing/2014/main" id="{0F2D7BAB-825A-601D-7675-ABF812C9096B}"/>
              </a:ext>
            </a:extLst>
          </p:cNvPr>
          <p:cNvPicPr>
            <a:picLocks noChangeAspect="1"/>
          </p:cNvPicPr>
          <p:nvPr/>
        </p:nvPicPr>
        <p:blipFill>
          <a:blip r:embed="rId4"/>
          <a:stretch>
            <a:fillRect/>
          </a:stretch>
        </p:blipFill>
        <p:spPr>
          <a:xfrm>
            <a:off x="6173971" y="139975"/>
            <a:ext cx="4654602" cy="3255276"/>
          </a:xfrm>
          <a:prstGeom prst="rect">
            <a:avLst/>
          </a:prstGeom>
        </p:spPr>
      </p:pic>
      <p:sp>
        <p:nvSpPr>
          <p:cNvPr id="16" name="TextBox 15">
            <a:extLst>
              <a:ext uri="{FF2B5EF4-FFF2-40B4-BE49-F238E27FC236}">
                <a16:creationId xmlns:a16="http://schemas.microsoft.com/office/drawing/2014/main" id="{BFE6329B-EE1B-37BB-34DA-2017A5540AB2}"/>
              </a:ext>
            </a:extLst>
          </p:cNvPr>
          <p:cNvSpPr txBox="1"/>
          <p:nvPr/>
        </p:nvSpPr>
        <p:spPr>
          <a:xfrm>
            <a:off x="362130" y="4039690"/>
            <a:ext cx="6176682" cy="1754326"/>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Profitability varies considerably across crops. Sugarcane demonstrates the highest average profit, followed by Chilli and Cotton. In contrast, Wheat, Rice and Maize show negative average profitability in the dataset. This indicates that crop selection and the associated production economics play an important role in overall agricultural performance.</a:t>
            </a:r>
          </a:p>
        </p:txBody>
      </p:sp>
      <p:sp>
        <p:nvSpPr>
          <p:cNvPr id="18" name="TextBox 17">
            <a:extLst>
              <a:ext uri="{FF2B5EF4-FFF2-40B4-BE49-F238E27FC236}">
                <a16:creationId xmlns:a16="http://schemas.microsoft.com/office/drawing/2014/main" id="{C892438E-724F-C130-210E-F87C37039BD8}"/>
              </a:ext>
            </a:extLst>
          </p:cNvPr>
          <p:cNvSpPr txBox="1"/>
          <p:nvPr/>
        </p:nvSpPr>
        <p:spPr>
          <a:xfrm>
            <a:off x="6243918" y="3462750"/>
            <a:ext cx="6176682" cy="1477328"/>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Crop profitability varies substantially across seasons. Sugarcane and Chilli remain the strongest profit-generating crops across all seasons. Several crops, including Maize, Rice and Wheat, show negative average profitability. Zaid generally demonstrates weaker financial performance across multiple crops.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7F74-6D81-BF7B-1565-1C814BB603C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6AFCD4-A0DA-9DE1-3BA7-4380D5D3E3A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5F5D20E-1C3F-642E-D36C-980783CDF341}"/>
              </a:ext>
            </a:extLst>
          </p:cNvPr>
          <p:cNvSpPr>
            <a:spLocks noGrp="1"/>
          </p:cNvSpPr>
          <p:nvPr>
            <p:ph type="title"/>
          </p:nvPr>
        </p:nvSpPr>
        <p:spPr>
          <a:xfrm>
            <a:off x="97459" y="6737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B495CE0-CA9E-C192-1E93-467573A2544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FA70501-11D1-36C7-C62C-0A7EE4F68EA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A7CA6A9-579C-54B0-2D8F-608656160047}"/>
              </a:ext>
            </a:extLst>
          </p:cNvPr>
          <p:cNvPicPr>
            <a:picLocks noChangeAspect="1"/>
          </p:cNvPicPr>
          <p:nvPr/>
        </p:nvPicPr>
        <p:blipFill>
          <a:blip r:embed="rId3"/>
          <a:stretch>
            <a:fillRect/>
          </a:stretch>
        </p:blipFill>
        <p:spPr>
          <a:xfrm>
            <a:off x="320981" y="898369"/>
            <a:ext cx="6732961" cy="3803611"/>
          </a:xfrm>
          <a:prstGeom prst="rect">
            <a:avLst/>
          </a:prstGeom>
        </p:spPr>
      </p:pic>
      <p:sp>
        <p:nvSpPr>
          <p:cNvPr id="10" name="TextBox 9">
            <a:extLst>
              <a:ext uri="{FF2B5EF4-FFF2-40B4-BE49-F238E27FC236}">
                <a16:creationId xmlns:a16="http://schemas.microsoft.com/office/drawing/2014/main" id="{CAD22AE0-D599-325A-4F77-6263557418F3}"/>
              </a:ext>
            </a:extLst>
          </p:cNvPr>
          <p:cNvSpPr txBox="1"/>
          <p:nvPr/>
        </p:nvSpPr>
        <p:spPr>
          <a:xfrm>
            <a:off x="1992762" y="4701980"/>
            <a:ext cx="6190128" cy="1754326"/>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Kharif demonstrates the strongest financial performance, with the highest average revenue and profit. Rabi also generates positive average profit. In contrast, Zaid has higher average costs than revenue, resulting in negative average profitability. This indicates that Zaid requires further investigation into production costs, resource utilization and crop selection.</a:t>
            </a:r>
          </a:p>
        </p:txBody>
      </p:sp>
    </p:spTree>
    <p:extLst>
      <p:ext uri="{BB962C8B-B14F-4D97-AF65-F5344CB8AC3E}">
        <p14:creationId xmlns:p14="http://schemas.microsoft.com/office/powerpoint/2010/main" val="345075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239077" y="273397"/>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8DAE2D7C-489E-3D7A-5037-49A6CFBF84A5}"/>
              </a:ext>
            </a:extLst>
          </p:cNvPr>
          <p:cNvSpPr txBox="1"/>
          <p:nvPr/>
        </p:nvSpPr>
        <p:spPr>
          <a:xfrm>
            <a:off x="239077" y="1275371"/>
            <a:ext cx="7583498" cy="3477875"/>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The project can be further expanded by incorporating </a:t>
            </a:r>
            <a:r>
              <a:rPr lang="en-IN" sz="2000" b="1" dirty="0">
                <a:latin typeface="Times New Roman" panose="02020603050405020304" pitchFamily="18" charset="0"/>
                <a:cs typeface="Times New Roman" panose="02020603050405020304" pitchFamily="18" charset="0"/>
              </a:rPr>
              <a:t>multi-year agricultural data, real-time weather information, satellite imagery and market-price data</a:t>
            </a:r>
            <a:r>
              <a:rPr lang="en-IN" sz="2000" dirty="0">
                <a:latin typeface="Times New Roman" panose="02020603050405020304" pitchFamily="18" charset="0"/>
                <a:cs typeface="Times New Roman" panose="02020603050405020304" pitchFamily="18" charset="0"/>
              </a:rPr>
              <a:t>. Machine learning models can be developed to predict crop yield, profitability and disease or pest risk for different seasons. An interactive </a:t>
            </a:r>
            <a:r>
              <a:rPr lang="en-IN" sz="2000" b="1" dirty="0">
                <a:latin typeface="Times New Roman" panose="02020603050405020304" pitchFamily="18" charset="0"/>
                <a:cs typeface="Times New Roman" panose="02020603050405020304" pitchFamily="18" charset="0"/>
              </a:rPr>
              <a:t>Power BI dashboard</a:t>
            </a:r>
            <a:r>
              <a:rPr lang="en-IN" sz="2000" dirty="0">
                <a:latin typeface="Times New Roman" panose="02020603050405020304" pitchFamily="18" charset="0"/>
                <a:cs typeface="Times New Roman" panose="02020603050405020304" pitchFamily="18" charset="0"/>
              </a:rPr>
              <a:t> can also be developed to allow farmers, agricultural planners and policymakers to monitor seasonal performance and make data-driven decisions.</a:t>
            </a:r>
          </a:p>
          <a:p>
            <a:pPr>
              <a:buNone/>
            </a:pPr>
            <a:r>
              <a:rPr lang="en-IN" sz="2000" dirty="0">
                <a:latin typeface="Times New Roman" panose="02020603050405020304" pitchFamily="18" charset="0"/>
                <a:cs typeface="Times New Roman" panose="02020603050405020304" pitchFamily="18" charset="0"/>
              </a:rPr>
              <a:t>Future development can also include </a:t>
            </a:r>
            <a:r>
              <a:rPr lang="en-IN" sz="2000" b="1" dirty="0">
                <a:latin typeface="Times New Roman" panose="02020603050405020304" pitchFamily="18" charset="0"/>
                <a:cs typeface="Times New Roman" panose="02020603050405020304" pitchFamily="18" charset="0"/>
              </a:rPr>
              <a:t>real-time irrigation monitoring, crop recommendation systems, weather-based alerts and regional-level agricultural forecasting</a:t>
            </a:r>
            <a:r>
              <a:rPr lang="en-IN" sz="2000" dirty="0">
                <a:latin typeface="Times New Roman" panose="02020603050405020304" pitchFamily="18" charset="0"/>
                <a:cs typeface="Times New Roman" panose="02020603050405020304" pitchFamily="18" charset="0"/>
              </a:rPr>
              <a:t>, making the system more useful for practical agricultural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320982" y="193040"/>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523068" y="1275371"/>
            <a:ext cx="7232875" cy="369332"/>
          </a:xfrm>
          <a:prstGeom prst="rect">
            <a:avLst/>
          </a:prstGeom>
          <a:noFill/>
        </p:spPr>
        <p:txBody>
          <a:bodyPr wrap="square">
            <a:spAutoFit/>
          </a:bodyPr>
          <a:lstStyle/>
          <a:p>
            <a:r>
              <a:rPr lang="en-US" dirty="0"/>
              <a:t>https://github.com/Sona0223/Seaosonal-agricultural-analysis-.git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170000" y="193040"/>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A4ABEC3-35BD-2C00-AC17-95BAB2ED2623}"/>
              </a:ext>
            </a:extLst>
          </p:cNvPr>
          <p:cNvPicPr>
            <a:picLocks noChangeAspect="1"/>
          </p:cNvPicPr>
          <p:nvPr/>
        </p:nvPicPr>
        <p:blipFill>
          <a:blip r:embed="rId3"/>
          <a:stretch>
            <a:fillRect/>
          </a:stretch>
        </p:blipFill>
        <p:spPr>
          <a:xfrm>
            <a:off x="1595120" y="1493067"/>
            <a:ext cx="7291387" cy="517189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543760" y="2912401"/>
            <a:ext cx="11340000" cy="700114"/>
          </a:xfrm>
          <a:prstGeom prst="rect">
            <a:avLst/>
          </a:prstGeom>
        </p:spPr>
        <p:txBody>
          <a:bodyPr anchor="ctr">
            <a:noAutofit/>
          </a:bodyPr>
          <a:lstStyle/>
          <a:p>
            <a:pPr algn="ctr"/>
            <a:r>
              <a:rPr lang="en-US" sz="115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schemas.microsoft.com/office/2006/metadata/properties"/>
    <ds:schemaRef ds:uri="16c05727-aa75-4e4a-9b5f-8a80a1165891"/>
    <ds:schemaRef ds:uri="http://purl.org/dc/terms/"/>
    <ds:schemaRef ds:uri="http://purl.org/dc/elements/1.1/"/>
    <ds:schemaRef ds:uri="71af3243-3dd4-4a8d-8c0d-dd76da1f02a5"/>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1466</TotalTime>
  <Words>965</Words>
  <Application>Microsoft Office PowerPoint</Application>
  <PresentationFormat>Widescreen</PresentationFormat>
  <Paragraphs>65</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Trebuchet MS</vt:lpstr>
      <vt:lpstr>Wingdings</vt:lpstr>
      <vt:lpstr>Wingdings 3</vt:lpstr>
      <vt:lpstr>Facet</vt:lpstr>
      <vt:lpstr>Project Title: Analyzing Seasonal Patterns, Agricultural Productivity, Resource Usage and Economic Performance</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param jain</cp:lastModifiedBy>
  <cp:revision>100</cp:revision>
  <dcterms:created xsi:type="dcterms:W3CDTF">2021-07-11T13:13:15Z</dcterms:created>
  <dcterms:modified xsi:type="dcterms:W3CDTF">2026-09-09T15:46:11Z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